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1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2D9E2-EFBC-4BA2-921D-DE4FDC2EBAE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43000" y="1122361"/>
            <a:ext cx="6858000" cy="2387598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C37E0-CA84-4380-8668-313AEB05DCE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43000" y="3602041"/>
            <a:ext cx="6858000" cy="1655758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4F8FC-8AF9-4E20-984A-17325984BE9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293D91-36BC-4372-A241-C5214178D251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E1129-9880-49EB-A405-18413D8AADF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4EF1-9495-445A-AF98-3012D79A815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D8695B3-E5F0-4D24-8F88-3A00D722AB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4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C597A-FE80-48FA-B3C0-31AF56E1349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A0C30-0DCE-4566-9DC2-422028CC746E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B2CE6-4D0D-42D0-B18D-C087868BC9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1BB52B2-00B6-4128-A123-F3339938E9A3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DF736-C326-48C5-96EE-4E10281DE89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2616A-3CD5-4ECE-9DDB-4FDEAEA899D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165B40-53EF-432E-BEE5-0BFB37858E0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9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7AB50-E6C9-4345-BBDC-40919C2398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3885" y="1709735"/>
            <a:ext cx="78867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98E6C-B81C-4B18-9EFE-17B25961F2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3885" y="4589465"/>
            <a:ext cx="7886700" cy="1500182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EF1E6-8D33-42F7-B47E-F9CC1D04DDB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84557D-14C8-40F7-BF59-7819398C310F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535CF-13D3-41BC-AA6D-3A1C53E699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7B306-5433-4983-9BF9-B7C87C2F23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8E9555B-9846-45B1-ACA9-374E178954E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944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891A-9386-4D67-924E-845C42D18A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0301C-2D24-4F92-A093-B8E99C1F73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604964"/>
            <a:ext cx="4038603" cy="452595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AB59F-77A4-497B-AAA2-675BF24F1FF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648196" y="1604964"/>
            <a:ext cx="4038603" cy="452595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E6FA5-8A01-4B5E-B528-8EBD4426F5E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8F192D-EE7B-433F-BF2A-4A4439F275A1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EC41E-CEF0-49BD-8B59-E7A0B809A6A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78271-B251-411B-B80E-CEF03282C80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D3D3FA-F843-45FA-8845-1DA8795DFED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0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0F45-C29F-46C6-B891-3965CF90DF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241" y="365129"/>
            <a:ext cx="78867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A7250-255F-4305-B8B1-0609CD2D66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241" y="1681160"/>
            <a:ext cx="3868734" cy="823910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5210A-4040-4F63-9933-10BB136C2EC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30241" y="2505071"/>
            <a:ext cx="386873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A92659-A02E-4290-9044-386269DDF77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629149" y="1681160"/>
            <a:ext cx="3887791" cy="823910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73D8E-DA03-4CC6-BF5C-4F6A91E9CD86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4629149" y="2505071"/>
            <a:ext cx="3887791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7D4AFC-D95F-417F-8621-51DD0264740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397AEB6-88E9-4D09-83E4-219CBB7B6911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ECBAF1-AA58-44EC-B97F-BB3DA034080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E60CD6-311C-4850-BDD4-1DB34554F1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6830289-1C54-4487-BE87-BBB6EEF4DAE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23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F0EB-6C0E-45DC-BF0E-8EEBAAC69E4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91B18D-2724-4CC3-A6A2-1C95499F4AC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EE0564E-8E32-4659-A319-C6AAFF8BD109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E1133-B2D0-4274-B930-9D3A35ECFD3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38407-F63A-4B7B-82F5-0A90C22B2AA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FD20B3F-5382-4CD9-BAAF-60F5A34AB52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398DF1-5140-4665-909C-1B5878EE0CF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ACE9DC9-3224-444D-BDB8-22CCAA2DFFEE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48F58-0142-4432-84BC-CD1B80795F2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35B6E-4BBD-4D5C-84B2-E4BF3F15DF1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C95526-63A2-475B-B11F-6BAD4FA250F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6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0C3FB-BAC9-4463-8CA3-722A9816E8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241" y="457200"/>
            <a:ext cx="294957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5C65F-D73E-4651-A0C7-CBA54BEE32F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887791" y="987423"/>
            <a:ext cx="4629149" cy="4873623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7AA65-CBD3-47CA-9EB8-6C930250B47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0241" y="2057400"/>
            <a:ext cx="2949570" cy="381158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B4D7A-A36D-4104-AD46-CA651106FFF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445896-4CB4-4FAF-AA9B-FCEEE8779DA7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4A63D-6184-4548-ACD2-CC05D744712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E6A22-EE31-477A-8B8F-B04CDE2A31E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5129D3-D9BC-4CB4-9BE3-652425922BE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81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BEF46-C712-48E3-9037-A826F6EBBC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241" y="457200"/>
            <a:ext cx="294957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2EFA63-E5C5-46B9-9711-4932FABFE285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3887791" y="987423"/>
            <a:ext cx="4629149" cy="4873623"/>
          </a:xfrm>
        </p:spPr>
        <p:txBody>
          <a:bodyPr/>
          <a:lstStyle>
            <a:lvl1pPr>
              <a:defRPr lang="en-IN"/>
            </a:lvl1pPr>
          </a:lstStyle>
          <a:p>
            <a:pPr lvl="0"/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DC6D8-0595-41AF-9645-1E2ABF61CEF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0241" y="2057400"/>
            <a:ext cx="2949570" cy="381158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8BC2C-FE6A-4A18-B6AD-6AF326DCE98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687C37-2957-4342-A4BA-18686514DD03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F69A0-0698-43A5-B43B-1246CDD8632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B9EBB-F25C-4D6F-97D7-EBFB909349B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04A830E-CE8A-4257-93FB-47B04B070FA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19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E5CA5-E6BD-417A-B8F8-3ED95E65F64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C22C8-5F76-4D44-AC77-819620C84BE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95A3D-6BCB-42C2-B42D-FEC817BE627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1EE546-6C57-403D-B82A-B9CED06B806A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4F242-2E74-41AF-B9D2-45D2890E260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CC38A-35F2-48D0-B76E-989BD1D77A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8D082-B680-4C3A-885A-EE6F4420936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8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00AE4E-4DC5-4DD1-BB4B-17B2E8D864CE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6629400" y="1604964"/>
            <a:ext cx="2057400" cy="452595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192E0-21DA-43C5-8B44-5F4ABB60656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457200" y="1604964"/>
            <a:ext cx="6019796" cy="452595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12C4C-AACF-40CF-BC19-A2AD111952A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FD99CB-B1EF-4405-A8FF-7FC930440555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F6BF-D83E-4804-A828-5B947ACA2BA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92E1A-4B2B-493A-89C7-800AF1D44AD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5484AC1-038D-407B-BDA9-C856BD3449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80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27E8E-FCBC-47FA-838D-3F92F29DD71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43000" y="1122361"/>
            <a:ext cx="6858000" cy="2387598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CFBED0-D81B-4B4A-A144-5EC42058DF0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43000" y="3602041"/>
            <a:ext cx="6858000" cy="1655758"/>
          </a:xfrm>
        </p:spPr>
        <p:txBody>
          <a:bodyPr anchorCtr="1"/>
          <a:lstStyle>
            <a:lvl1pPr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96C31-6EC5-4525-A351-61BA1FA2E54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9173A4D-436C-4F0C-B94F-88B7D26882F7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34253-FC22-44AF-B54A-25C6BC75761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AAEB5-BC28-4562-90DB-4A85F19DE2E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51EDD5-A712-4732-B1CD-CBB031FB890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07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B17DB-A21B-4FD1-8429-5FE7B42E3B5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1AE53-5F5F-4B8D-B758-407769F480FC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A06F4-AAD3-492B-A06C-D1141B898D1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F3BE046-1608-4149-BA54-B61962E43044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B3722-94BB-4370-AD76-B623AC934EA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9F62A-E0A3-4D38-9808-BE7E72AF19C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C5721B8-06DB-4DD6-AD29-E682D93A948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52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E998A-8FCB-4C7A-9D9F-CECABD3920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3885" y="1709735"/>
            <a:ext cx="78867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1B277-0121-4DD9-95E3-DEBA9E084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3885" y="4589465"/>
            <a:ext cx="7886700" cy="1500182"/>
          </a:xfrm>
        </p:spPr>
        <p:txBody>
          <a:bodyPr/>
          <a:lstStyle>
            <a:lvl1pPr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63915-0474-412A-9543-C9BCDA4FC9A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828886A-B747-4954-A2FE-6B9D63A9DE4F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48C77-34D4-48A2-9E72-F4773930FE6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9DFF2-2445-47F5-A5DE-0577AA51AFA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1FEDE9D-E240-49C7-9C62-8FF44977F4D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384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22C9B-C345-43F3-8BAF-124B3DADEFF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4EC21-960F-4F27-8D57-F21BE186DC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4038603" cy="452595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D6F7E-0275-4142-A8D4-0EF19E15FE3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648196" y="1600200"/>
            <a:ext cx="4038603" cy="452595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7A035-A59D-464A-A211-CC0CA343CD6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92BB12-A2FB-44CE-9728-85909BC5BB6B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A59A7-8F02-4E2D-9B5E-0C3E577AE4D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0ED53-2D51-4511-A6AB-0415CFFA22F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A81B0B-C787-4540-8FAB-4AA76539D38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21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2DE7E-F53C-4847-9E2D-7662EF3069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241" y="365129"/>
            <a:ext cx="78867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C1470-3DE2-4A47-B2E0-33E7051CB4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241" y="1681160"/>
            <a:ext cx="3868734" cy="823910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9ACC0-D2B7-4586-B119-6C717B7C0F37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30241" y="2505071"/>
            <a:ext cx="386873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42285A-D29A-4571-85EE-6B2C72F96B3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629149" y="1681160"/>
            <a:ext cx="3887791" cy="823910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E3AC94-A717-4624-95A9-2732558CE38B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4629149" y="2505071"/>
            <a:ext cx="3887791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890AF-AD07-4B6E-B223-9CE6094CD62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5C61115-2BD1-44EB-8574-34A4D2C29C03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F30B3D-B6A9-4888-909F-C792447B543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854E0-5ACC-4BE1-B739-E64FD790CE5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5F3DF9-BF64-44AE-A4F4-555FD25F9E3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6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7A59E-9760-416B-A31F-6E41EFA4544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3FBA1-04BD-4BB5-8F88-B6999A02859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082C90-D3E0-4BA2-9D38-0D6F5718C875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6EA14C-CC19-44F6-BE08-24A5AFC22D0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7F757A-8D53-4688-AA87-B9EB50E5AA2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34D75CE-B6E9-47BD-90CD-EE31564315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1313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984943-6E6D-4339-A2A1-65D420D266A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77C3BE-4CC3-42D2-AC08-BE3E4259E3CB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090B83-3C56-4908-917C-EC1095EF1C7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0E577-4D09-4949-BE32-28A222AC2BE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3ACE9E-81F1-485E-962B-056C435285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040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C4140-C223-40D2-A793-EA19553E60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241" y="457200"/>
            <a:ext cx="294957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00C4F-9FAF-472B-B697-F669FCCB9EC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887791" y="987423"/>
            <a:ext cx="4629149" cy="4873623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32244-4711-46F2-91FD-C076F3CAD7A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0241" y="2057400"/>
            <a:ext cx="2949570" cy="3811584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E91CF-C7A6-4310-8BC8-B91EC26FE6F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45552C-38B9-45EC-8724-BFC31E4EFAE7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15780-5274-436B-AC36-8C3C5BA1A17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11D5A-DAD0-4503-8B77-BD6988D6E34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66EF29-557C-49D0-9736-8CCF94B1FE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593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9BBC4-D08A-4864-A3DD-A3B3BE92AB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241" y="457200"/>
            <a:ext cx="294957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1FC432-B3AF-4840-A47C-8B778A629F47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3887791" y="987423"/>
            <a:ext cx="4629149" cy="4873623"/>
          </a:xfrm>
        </p:spPr>
        <p:txBody>
          <a:bodyPr/>
          <a:lstStyle>
            <a:lvl1pPr>
              <a:buNone/>
              <a:defRPr lang="en-IN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1A59B-128B-4D4D-A79A-E786FFC5B17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0241" y="2057400"/>
            <a:ext cx="2949570" cy="3811584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1E961-1820-4209-9602-F041D399436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9582EB-62D7-48DE-8293-BB345EDB8187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B5130-D7A4-454F-9260-E0C45945E24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8B397-6CED-4E5F-AE3C-9DCE19941F2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7DD36F4-B053-4A97-9135-90D3761A822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481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B33B-FBDF-489F-8107-BE6F819406E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2C7A9-AC49-4294-AF85-CA500EB903A6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905CC-4FC8-4E80-95EC-713E939D654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6D1B1F-6AEE-465A-94A8-40F625F8F651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A44EC-26CD-4F3C-A8A8-F351BEB57A8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B48C8-14B1-41A8-B50F-953FDFF8E2C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FBF5FA-EEF6-464C-ABEA-9F4F3373D18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250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BED174-D45D-46FD-A1C9-1283A6BD721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47032F-2BC4-49F3-BEAB-CC273A92842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457200" y="274640"/>
            <a:ext cx="6019796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57251-DE2A-483C-8BB1-F3250ECBB6C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746CF22-9636-489B-BB81-8F44CBE92F89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92001-87B8-4FB8-B810-AE7CDEDC9C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21C74-528C-4904-9D8E-E04C71B8331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4AD0D4-FC44-49AF-9B23-1F9E06A1066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4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0F22C647-B0B9-40F3-9D5C-328B0398C15F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0" y="0"/>
            <a:ext cx="9143643" cy="685764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A22EF14-1725-4ED5-9405-1509B190AC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2130478"/>
            <a:ext cx="7772043" cy="146952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1" compatLnSpc="1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AF183-61CD-4EEA-A800-B6837B28E1E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4C316482-4B5E-4797-9BB6-2348BCED2466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B540C-7324-41A9-9E39-1803382216E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5BF7B-8922-4431-9903-9394A35BDE9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4D7985ED-ECB1-44FF-9C33-F80402AC5B81}" type="slidenum"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D35130-3206-40EF-85AB-9F7B313A8E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4515"/>
            <a:ext cx="8229243" cy="45259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ctr" defTabSz="914400" rtl="0" eaLnBrk="1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1pPr>
    </p:titleStyle>
    <p:bodyStyle>
      <a:lvl1pPr marL="0" marR="0" lvl="0" indent="0" algn="l" defTabSz="914400" rtl="0" eaLnBrk="1" fontAlgn="auto" hangingPunct="1">
        <a:lnSpc>
          <a:spcPct val="100000"/>
        </a:lnSpc>
        <a:spcBef>
          <a:spcPts val="0"/>
        </a:spcBef>
        <a:spcAft>
          <a:spcPts val="1415"/>
        </a:spcAft>
        <a:buNone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1pPr>
      <a:lvl2pPr marL="685800" marR="0" lvl="1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1DEEFC10-42D1-4C50-8E96-D045887713BE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0" y="0"/>
            <a:ext cx="9143643" cy="685764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0569F35-8C3B-4ECD-BDAA-275693CD50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76"/>
            <a:ext cx="8229243" cy="114264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1" compatLnSpc="1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EFC8705-C1B9-460E-A144-8AB25A8229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3" cy="452555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  <a:p>
            <a:pPr lvl="7"/>
            <a:r>
              <a:rPr lang="en-US"/>
              <a:t>Eighth Outline Level</a:t>
            </a:r>
          </a:p>
          <a:p>
            <a:pPr lvl="0"/>
            <a:r>
              <a:rPr lang="en-US"/>
              <a:t>Ninth Outline LevelClick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0F6F66E-00BD-4932-96D4-47D08458A1B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ACC906AC-1DA5-4360-A4B2-110826AFED0A}" type="datetime1">
              <a:rPr lang="en-US"/>
              <a:pPr lvl="0"/>
              <a:t>7/17/2025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1DF93AE-38B4-4CA7-9564-5AC3C68676B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29B0624-5158-4634-B5B9-CD41F78D888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759AE4A8-1914-4B1F-83B7-450999F64DDF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1pPr>
    </p:titleStyle>
    <p:body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1pPr>
      <a:lvl2pPr marL="0" marR="0" lvl="1" indent="0" algn="l" defTabSz="914400" rtl="0" fontAlgn="auto" hangingPunct="1">
        <a:lnSpc>
          <a:spcPct val="100000"/>
        </a:lnSpc>
        <a:spcBef>
          <a:spcPts val="0"/>
        </a:spcBef>
        <a:spcAft>
          <a:spcPts val="1415"/>
        </a:spcAft>
        <a:buSzPct val="75000"/>
        <a:buFont typeface="StarSymbol"/>
        <a:buChar char="–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2pPr>
      <a:lvl3pPr marL="0" marR="0" lvl="2" indent="0" algn="l" defTabSz="914400" rtl="0" fontAlgn="auto" hangingPunct="1">
        <a:lnSpc>
          <a:spcPct val="10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3pPr>
      <a:lvl4pPr marL="0" marR="0" lvl="3" indent="0" algn="l" defTabSz="914400" rtl="0" fontAlgn="auto" hangingPunct="1">
        <a:lnSpc>
          <a:spcPct val="100000"/>
        </a:lnSpc>
        <a:spcBef>
          <a:spcPts val="0"/>
        </a:spcBef>
        <a:spcAft>
          <a:spcPts val="1415"/>
        </a:spcAft>
        <a:buSzPct val="75000"/>
        <a:buFont typeface="StarSymbol"/>
        <a:buChar char="–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4pPr>
      <a:lvl5pPr marL="0" marR="0" lvl="4" indent="0" algn="l" defTabSz="914400" rtl="0" fontAlgn="auto" hangingPunct="1">
        <a:lnSpc>
          <a:spcPct val="10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5pPr>
      <a:lvl6pPr marL="0" marR="0" lvl="5" indent="0" algn="l" defTabSz="914400" rtl="0" fontAlgn="auto" hangingPunct="1">
        <a:lnSpc>
          <a:spcPct val="10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6pPr>
      <a:lvl7pPr marL="0" marR="0" lvl="6" indent="0" algn="l" defTabSz="914400" rtl="0" fontAlgn="auto" hangingPunct="1">
        <a:lnSpc>
          <a:spcPct val="10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7pPr>
      <a:lvl8pPr marL="0" marR="0" lvl="7" indent="0" algn="l" defTabSz="914400" rtl="0" fontAlgn="auto" hangingPunct="1">
        <a:lnSpc>
          <a:spcPct val="10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8pPr>
      <a:lvl9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0B69-9070-E377-0149-4106F27BB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785" y="687898"/>
            <a:ext cx="7969541" cy="4202884"/>
          </a:xfrm>
        </p:spPr>
        <p:txBody>
          <a:bodyPr/>
          <a:lstStyle/>
          <a:p>
            <a:r>
              <a:rPr lang="en-US" dirty="0"/>
              <a:t>INTRODUCTION </a:t>
            </a:r>
            <a:br>
              <a:rPr lang="en-US" dirty="0"/>
            </a:br>
            <a:r>
              <a:rPr lang="en-US" dirty="0"/>
              <a:t>TO </a:t>
            </a:r>
            <a:br>
              <a:rPr lang="en-US" dirty="0"/>
            </a:br>
            <a:r>
              <a:rPr lang="en-US" dirty="0"/>
              <a:t>DATA VISULAIZATION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546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C13EA4-C60D-604A-CE1A-22A69E7B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VISULAIZATION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11F420-F75F-55D8-D0AC-30FECA0D7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visualization is the graphical representation of information and data. </a:t>
            </a:r>
          </a:p>
          <a:p>
            <a:r>
              <a:rPr lang="en-US" dirty="0"/>
              <a:t>By using visual elements like charts, graphs, and maps, data visualization tools provide an accessible way to see and understand trends, outliers, and patterns in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3657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55C64-9BAD-3189-7FBE-EC2C86510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7446"/>
            <a:ext cx="8229243" cy="1299873"/>
          </a:xfrm>
        </p:spPr>
        <p:txBody>
          <a:bodyPr/>
          <a:lstStyle/>
          <a:p>
            <a:r>
              <a:rPr lang="en-US" dirty="0"/>
              <a:t>Why is Data Visualization Important?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2DA3B-890D-C160-2E51-E5D81C89E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0410"/>
            <a:ext cx="8229243" cy="4305347"/>
          </a:xfrm>
        </p:spPr>
        <p:txBody>
          <a:bodyPr/>
          <a:lstStyle/>
          <a:p>
            <a:r>
              <a:rPr lang="en-IN" dirty="0"/>
              <a:t>Faster Decision Making</a:t>
            </a:r>
          </a:p>
          <a:p>
            <a:r>
              <a:rPr lang="en-IN" dirty="0"/>
              <a:t>Identify Trends and Patterns</a:t>
            </a:r>
          </a:p>
          <a:p>
            <a:r>
              <a:rPr lang="en-IN" dirty="0"/>
              <a:t>Communicate Insights Effectively</a:t>
            </a:r>
          </a:p>
          <a:p>
            <a:r>
              <a:rPr lang="en-IN" dirty="0"/>
              <a:t>Discover New Perspectives</a:t>
            </a:r>
          </a:p>
          <a:p>
            <a:r>
              <a:rPr lang="en-IN" dirty="0"/>
              <a:t>Improve Data Quality</a:t>
            </a:r>
          </a:p>
          <a:p>
            <a:r>
              <a:rPr lang="en-IN" dirty="0"/>
              <a:t>Engage and Persuade</a:t>
            </a:r>
          </a:p>
        </p:txBody>
      </p:sp>
    </p:spTree>
    <p:extLst>
      <p:ext uri="{BB962C8B-B14F-4D97-AF65-F5344CB8AC3E}">
        <p14:creationId xmlns:p14="http://schemas.microsoft.com/office/powerpoint/2010/main" val="3171002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527FB-7A07-29BB-5DCE-6759BDF0F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Elements of Data Visualization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0C06E-185E-D606-3137-C4BD0996F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70"/>
            <a:ext cx="8510631" cy="4959687"/>
          </a:xfrm>
        </p:spPr>
        <p:txBody>
          <a:bodyPr/>
          <a:lstStyle/>
          <a:p>
            <a:r>
              <a:rPr lang="en-US" sz="2400" b="1" dirty="0"/>
              <a:t>Data:</a:t>
            </a:r>
            <a:r>
              <a:rPr lang="en-US" sz="2400" dirty="0"/>
              <a:t> The raw information you want to visualize.</a:t>
            </a:r>
          </a:p>
          <a:p>
            <a:r>
              <a:rPr lang="en-US" sz="2400" b="1" dirty="0"/>
              <a:t>Visual Elements:</a:t>
            </a:r>
            <a:r>
              <a:rPr lang="en-US" sz="2400" dirty="0"/>
              <a:t> These include charts, graphs, maps, diagrams, and other graphical representations.</a:t>
            </a:r>
          </a:p>
          <a:p>
            <a:r>
              <a:rPr lang="en-IN" sz="2400" b="1" dirty="0"/>
              <a:t>Design Principles</a:t>
            </a:r>
            <a:r>
              <a:rPr lang="en-IN" sz="2400" dirty="0"/>
              <a:t>:</a:t>
            </a:r>
            <a:r>
              <a:rPr lang="en-US" sz="2400" dirty="0"/>
              <a:t> This includes choices of color, typography, layout, and annotations.</a:t>
            </a:r>
          </a:p>
          <a:p>
            <a:r>
              <a:rPr lang="en-IN" sz="2400" b="1" dirty="0"/>
              <a:t>Context</a:t>
            </a:r>
            <a:r>
              <a:rPr lang="en-IN" sz="2400" dirty="0"/>
              <a:t>:</a:t>
            </a:r>
            <a:r>
              <a:rPr lang="en-US" sz="2400" dirty="0"/>
              <a:t> Presenting data with appropriate labels, titles, legends, and explanations to ensure the audience understands what they are seeing.</a:t>
            </a:r>
          </a:p>
          <a:p>
            <a:r>
              <a:rPr lang="en-IN" sz="2400" b="1" dirty="0"/>
              <a:t>Storytelling</a:t>
            </a:r>
            <a:r>
              <a:rPr lang="en-IN" sz="2400" dirty="0"/>
              <a:t>:</a:t>
            </a:r>
            <a:r>
              <a:rPr lang="en-US" sz="2400" dirty="0"/>
              <a:t> The ability to use visualizations to tell a coherent and impactful story about the data, guiding the audience through the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0508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5808E-5BC8-87E5-CB3A-7BC371DA2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for Data Visualization: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DC310-B43B-F762-13E5-4EAAE76C3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b="1" dirty="0"/>
              <a:t>Programming Libraries</a:t>
            </a:r>
            <a:r>
              <a:rPr lang="en-IN" dirty="0"/>
              <a:t>:</a:t>
            </a:r>
          </a:p>
          <a:p>
            <a:pPr>
              <a:buNone/>
            </a:pPr>
            <a:r>
              <a:rPr lang="en-IN" dirty="0"/>
              <a:t>     Python</a:t>
            </a:r>
            <a:r>
              <a:rPr lang="en-IN" b="1" dirty="0"/>
              <a:t>:</a:t>
            </a:r>
            <a:r>
              <a:rPr lang="en-IN" dirty="0"/>
              <a:t> Matplotlib, Seaborn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b="1" dirty="0"/>
              <a:t>Business Intelligence (BI) Tools</a:t>
            </a:r>
            <a:r>
              <a:rPr lang="en-IN" dirty="0"/>
              <a:t>:</a:t>
            </a:r>
          </a:p>
          <a:p>
            <a:pPr>
              <a:buNone/>
            </a:pPr>
            <a:r>
              <a:rPr lang="en-IN" dirty="0"/>
              <a:t>     </a:t>
            </a:r>
            <a:r>
              <a:rPr lang="en-IN" dirty="0" err="1"/>
              <a:t>Tableau,Power</a:t>
            </a:r>
            <a:r>
              <a:rPr lang="en-IN" dirty="0"/>
              <a:t> BI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b="1" dirty="0"/>
              <a:t>Spreadsheet Software</a:t>
            </a:r>
            <a:r>
              <a:rPr lang="en-IN" dirty="0"/>
              <a:t>:</a:t>
            </a:r>
          </a:p>
          <a:p>
            <a:pPr>
              <a:buNone/>
            </a:pPr>
            <a:r>
              <a:rPr lang="en-IN" dirty="0"/>
              <a:t>     Microsoft Excel</a:t>
            </a:r>
          </a:p>
          <a:p>
            <a:pPr>
              <a:buNone/>
            </a:pPr>
            <a:r>
              <a:rPr lang="en-IN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74068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83BD-CE74-2EC5-1A49-1ACC7C108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76"/>
            <a:ext cx="8229243" cy="648113"/>
          </a:xfrm>
        </p:spPr>
        <p:txBody>
          <a:bodyPr/>
          <a:lstStyle/>
          <a:p>
            <a:r>
              <a:rPr lang="en-US" dirty="0"/>
              <a:t>Business Intelligence(BI)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6608-FB53-F0A3-0814-AE73317D5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2" y="1543574"/>
            <a:ext cx="8942664" cy="4582183"/>
          </a:xfrm>
        </p:spPr>
        <p:txBody>
          <a:bodyPr/>
          <a:lstStyle/>
          <a:p>
            <a:r>
              <a:rPr lang="en-US" dirty="0"/>
              <a:t>As the name suggests is to analyze the data and display it in a way it speaks, </a:t>
            </a:r>
            <a:r>
              <a:rPr lang="en-US" dirty="0" err="1"/>
              <a:t>ie</a:t>
            </a:r>
            <a:r>
              <a:rPr lang="en-US" dirty="0"/>
              <a:t>, in the form of </a:t>
            </a:r>
            <a:r>
              <a:rPr lang="en-US" dirty="0" err="1"/>
              <a:t>dasboards</a:t>
            </a:r>
            <a:r>
              <a:rPr lang="en-US" dirty="0"/>
              <a:t>, charts, reports etc.</a:t>
            </a:r>
          </a:p>
          <a:p>
            <a:r>
              <a:rPr lang="en-US" dirty="0"/>
              <a:t>Such a form of data that is easy to understand helps the founders to track performance, remove any issues, and prepare themselves from market changes.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1271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22AB8-2FF5-2F38-CA63-25D02598A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57" y="318782"/>
            <a:ext cx="8925885" cy="5806975"/>
          </a:xfrm>
        </p:spPr>
        <p:txBody>
          <a:bodyPr/>
          <a:lstStyle/>
          <a:p>
            <a:r>
              <a:rPr lang="en-US" dirty="0"/>
              <a:t>The following are the components of BI:</a:t>
            </a:r>
          </a:p>
          <a:p>
            <a:r>
              <a:rPr lang="en-US" b="1" dirty="0"/>
              <a:t>Data Collection </a:t>
            </a:r>
            <a:r>
              <a:rPr lang="en-US" dirty="0"/>
              <a:t>: Gathering data from various </a:t>
            </a:r>
            <a:r>
              <a:rPr lang="en-US" dirty="0" err="1"/>
              <a:t>sources,such</a:t>
            </a:r>
            <a:r>
              <a:rPr lang="en-US" dirty="0"/>
              <a:t> as </a:t>
            </a:r>
            <a:r>
              <a:rPr lang="en-US" dirty="0" err="1"/>
              <a:t>databases,spreadsheets</a:t>
            </a:r>
            <a:r>
              <a:rPr lang="en-US" dirty="0"/>
              <a:t> and external sources.</a:t>
            </a:r>
          </a:p>
          <a:p>
            <a:r>
              <a:rPr lang="en-US" b="1" dirty="0"/>
              <a:t>Data Analysis </a:t>
            </a:r>
            <a:r>
              <a:rPr lang="en-US" dirty="0"/>
              <a:t>: Using statistical and analytical techniques to identify trends, patterns and correlations within the data</a:t>
            </a:r>
          </a:p>
          <a:p>
            <a:r>
              <a:rPr lang="en-US" b="1" dirty="0"/>
              <a:t>Data Visualizations </a:t>
            </a:r>
            <a:r>
              <a:rPr lang="en-US" dirty="0"/>
              <a:t>: Presenting the analyzed data in a clear and concise manner, using reports, dashboards and other visualization tools.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1498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161C1-4111-2FFB-A3B0-C2F296D15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92" y="1199626"/>
            <a:ext cx="8816828" cy="4926131"/>
          </a:xfrm>
        </p:spPr>
        <p:txBody>
          <a:bodyPr/>
          <a:lstStyle/>
          <a:p>
            <a:r>
              <a:rPr lang="en-US" b="1" dirty="0"/>
              <a:t>Insight Generation </a:t>
            </a:r>
            <a:r>
              <a:rPr lang="en-US" dirty="0"/>
              <a:t>: Interpreting the results of the analysis to identify </a:t>
            </a:r>
            <a:r>
              <a:rPr lang="en-US" dirty="0" err="1"/>
              <a:t>oppurtunities</a:t>
            </a:r>
            <a:r>
              <a:rPr lang="en-US" dirty="0"/>
              <a:t>, challenges and areas for improvement.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4147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E4683-6D14-40A9-F0AB-DD602D1B2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827090"/>
            <a:ext cx="8229243" cy="3298668"/>
          </a:xfrm>
        </p:spPr>
        <p:txBody>
          <a:bodyPr/>
          <a:lstStyle/>
          <a:p>
            <a:pPr>
              <a:buNone/>
            </a:pPr>
            <a:r>
              <a:rPr lang="en-US" dirty="0"/>
              <a:t>                    </a:t>
            </a:r>
            <a:r>
              <a:rPr lang="en-US" sz="6000" dirty="0"/>
              <a:t>THANK YOU!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42421210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6D71E434-B1E1-4531-9FA8-1171239B26E0}" vid="{2A564877-0FD3-4618-BF63-EA8CC26B47A1}"/>
    </a:ext>
  </a:extLst>
</a:theme>
</file>

<file path=ppt/theme/theme2.xml><?xml version="1.0" encoding="utf-8"?>
<a:theme xmlns:a="http://schemas.openxmlformats.org/drawingml/2006/main" name="Default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56</TotalTime>
  <Words>361</Words>
  <Application>Microsoft Office PowerPoint</Application>
  <PresentationFormat>On-screen Show (4:3)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StarSymbol</vt:lpstr>
      <vt:lpstr>Times New Roman</vt:lpstr>
      <vt:lpstr>Wingdings</vt:lpstr>
      <vt:lpstr>Theme2</vt:lpstr>
      <vt:lpstr>Default 1</vt:lpstr>
      <vt:lpstr>INTRODUCTION  TO  DATA VISULAIZATION</vt:lpstr>
      <vt:lpstr>DATA VISULAIZATION</vt:lpstr>
      <vt:lpstr>Why is Data Visualization Important?</vt:lpstr>
      <vt:lpstr>Key Elements of Data Visualization</vt:lpstr>
      <vt:lpstr>Tools for Data Visualization:</vt:lpstr>
      <vt:lpstr>Business Intelligence(BI)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Joshy</dc:creator>
  <cp:lastModifiedBy>Sneha Joshy</cp:lastModifiedBy>
  <cp:revision>4</cp:revision>
  <dcterms:created xsi:type="dcterms:W3CDTF">2025-05-22T06:23:24Z</dcterms:created>
  <dcterms:modified xsi:type="dcterms:W3CDTF">2025-07-17T06:43:54Z</dcterms:modified>
</cp:coreProperties>
</file>