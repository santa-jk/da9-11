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gfUbIwvb4A05Sc0n3cbE0ZbCIZ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1"/>
          <p:cNvSpPr txBox="1"/>
          <p:nvPr>
            <p:ph type="ctrTitle"/>
          </p:nvPr>
        </p:nvSpPr>
        <p:spPr>
          <a:xfrm>
            <a:off x="1143000" y="1122361"/>
            <a:ext cx="6858000" cy="2387598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1"/>
          <p:cNvSpPr txBox="1"/>
          <p:nvPr>
            <p:ph idx="1" type="subTitle"/>
          </p:nvPr>
        </p:nvSpPr>
        <p:spPr>
          <a:xfrm>
            <a:off x="1143000" y="3602041"/>
            <a:ext cx="6858000" cy="1655758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41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1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" type="body"/>
          </p:nvPr>
        </p:nvSpPr>
        <p:spPr>
          <a:xfrm>
            <a:off x="457200" y="1604515"/>
            <a:ext cx="8229243" cy="4525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5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6"/>
          <p:cNvSpPr txBox="1"/>
          <p:nvPr>
            <p:ph type="title"/>
          </p:nvPr>
        </p:nvSpPr>
        <p:spPr>
          <a:xfrm>
            <a:off x="623885" y="1709735"/>
            <a:ext cx="7886700" cy="2852735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" type="body"/>
          </p:nvPr>
        </p:nvSpPr>
        <p:spPr>
          <a:xfrm>
            <a:off x="623885" y="4589465"/>
            <a:ext cx="7886700" cy="1500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2400"/>
              <a:buFont typeface="Calibri"/>
              <a:buNone/>
              <a:defRPr sz="2400">
                <a:solidFill>
                  <a:srgbClr val="89898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7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" type="body"/>
          </p:nvPr>
        </p:nvSpPr>
        <p:spPr>
          <a:xfrm>
            <a:off x="457200" y="1604964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2" type="body"/>
          </p:nvPr>
        </p:nvSpPr>
        <p:spPr>
          <a:xfrm>
            <a:off x="4648196" y="1604964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7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/>
          <p:nvPr>
            <p:ph type="title"/>
          </p:nvPr>
        </p:nvSpPr>
        <p:spPr>
          <a:xfrm>
            <a:off x="630241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" type="body"/>
          </p:nvPr>
        </p:nvSpPr>
        <p:spPr>
          <a:xfrm>
            <a:off x="630241" y="1681160"/>
            <a:ext cx="3868734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2" type="body"/>
          </p:nvPr>
        </p:nvSpPr>
        <p:spPr>
          <a:xfrm>
            <a:off x="630241" y="2505071"/>
            <a:ext cx="3868734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3" type="body"/>
          </p:nvPr>
        </p:nvSpPr>
        <p:spPr>
          <a:xfrm>
            <a:off x="4629149" y="1681160"/>
            <a:ext cx="3887791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4" type="body"/>
          </p:nvPr>
        </p:nvSpPr>
        <p:spPr>
          <a:xfrm>
            <a:off x="4629149" y="2505071"/>
            <a:ext cx="3887791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8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0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" type="body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4064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2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1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1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/>
          <p:nvPr>
            <p:ph idx="2" type="pic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52"/>
          <p:cNvSpPr txBox="1"/>
          <p:nvPr>
            <p:ph idx="1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3429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2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2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3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" type="body"/>
          </p:nvPr>
        </p:nvSpPr>
        <p:spPr>
          <a:xfrm rot="5400000">
            <a:off x="2308860" y="-247145"/>
            <a:ext cx="4525923" cy="8229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4"/>
          <p:cNvSpPr txBox="1"/>
          <p:nvPr>
            <p:ph type="title"/>
          </p:nvPr>
        </p:nvSpPr>
        <p:spPr>
          <a:xfrm rot="5400000">
            <a:off x="5395121" y="2839243"/>
            <a:ext cx="4525959" cy="2057400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" type="body"/>
          </p:nvPr>
        </p:nvSpPr>
        <p:spPr>
          <a:xfrm rot="5400000">
            <a:off x="1204118" y="858045"/>
            <a:ext cx="4525959" cy="6019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/>
            </a:lvl1pPr>
            <a:lvl2pPr indent="-381000" lvl="1" marL="91440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3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3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3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3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4"/>
          <p:cNvSpPr txBox="1"/>
          <p:nvPr>
            <p:ph type="ctrTitle"/>
          </p:nvPr>
        </p:nvSpPr>
        <p:spPr>
          <a:xfrm>
            <a:off x="1143000" y="1122361"/>
            <a:ext cx="6858000" cy="2387598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4"/>
          <p:cNvSpPr txBox="1"/>
          <p:nvPr>
            <p:ph idx="1" type="subTitle"/>
          </p:nvPr>
        </p:nvSpPr>
        <p:spPr>
          <a:xfrm>
            <a:off x="1143000" y="3602041"/>
            <a:ext cx="6858000" cy="1655758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sz="2400"/>
            </a:lvl1pPr>
            <a:lvl2pPr lvl="1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lvl="5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lvl="6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lvl="8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97" name="Google Shape;97;p44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4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4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5"/>
          <p:cNvSpPr txBox="1"/>
          <p:nvPr>
            <p:ph type="title"/>
          </p:nvPr>
        </p:nvSpPr>
        <p:spPr>
          <a:xfrm>
            <a:off x="623885" y="1709735"/>
            <a:ext cx="7886700" cy="2852735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5"/>
          <p:cNvSpPr txBox="1"/>
          <p:nvPr>
            <p:ph idx="1" type="body"/>
          </p:nvPr>
        </p:nvSpPr>
        <p:spPr>
          <a:xfrm>
            <a:off x="623885" y="4589465"/>
            <a:ext cx="7886700" cy="1500182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080"/>
              <a:buNone/>
              <a:defRPr sz="2400">
                <a:solidFill>
                  <a:srgbClr val="898989"/>
                </a:solidFill>
              </a:defRPr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03" name="Google Shape;103;p55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5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5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6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6"/>
          <p:cNvSpPr txBox="1"/>
          <p:nvPr>
            <p:ph idx="1" type="body"/>
          </p:nvPr>
        </p:nvSpPr>
        <p:spPr>
          <a:xfrm>
            <a:off x="457200" y="1600200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09" name="Google Shape;109;p56"/>
          <p:cNvSpPr txBox="1"/>
          <p:nvPr>
            <p:ph idx="2" type="body"/>
          </p:nvPr>
        </p:nvSpPr>
        <p:spPr>
          <a:xfrm>
            <a:off x="4648196" y="1600200"/>
            <a:ext cx="4038603" cy="452595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0" name="Google Shape;110;p56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6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6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7"/>
          <p:cNvSpPr txBox="1"/>
          <p:nvPr>
            <p:ph type="title"/>
          </p:nvPr>
        </p:nvSpPr>
        <p:spPr>
          <a:xfrm>
            <a:off x="630241" y="365129"/>
            <a:ext cx="7886700" cy="132555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7"/>
          <p:cNvSpPr txBox="1"/>
          <p:nvPr>
            <p:ph idx="1" type="body"/>
          </p:nvPr>
        </p:nvSpPr>
        <p:spPr>
          <a:xfrm>
            <a:off x="630241" y="1681160"/>
            <a:ext cx="3868734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b="1" sz="24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6" name="Google Shape;116;p57"/>
          <p:cNvSpPr txBox="1"/>
          <p:nvPr>
            <p:ph idx="2" type="body"/>
          </p:nvPr>
        </p:nvSpPr>
        <p:spPr>
          <a:xfrm>
            <a:off x="630241" y="2505071"/>
            <a:ext cx="3868734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7" name="Google Shape;117;p57"/>
          <p:cNvSpPr txBox="1"/>
          <p:nvPr>
            <p:ph idx="3" type="body"/>
          </p:nvPr>
        </p:nvSpPr>
        <p:spPr>
          <a:xfrm>
            <a:off x="4629149" y="1681160"/>
            <a:ext cx="3887791" cy="823910"/>
          </a:xfrm>
          <a:prstGeom prst="rect">
            <a:avLst/>
          </a:prstGeom>
          <a:noFill/>
          <a:ln>
            <a:noFill/>
          </a:ln>
        </p:spPr>
        <p:txBody>
          <a:bodyPr anchorCtr="0" anchor="b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"/>
              <a:buNone/>
              <a:defRPr b="1" sz="24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8" name="Google Shape;118;p57"/>
          <p:cNvSpPr txBox="1"/>
          <p:nvPr>
            <p:ph idx="4" type="body"/>
          </p:nvPr>
        </p:nvSpPr>
        <p:spPr>
          <a:xfrm>
            <a:off x="4629149" y="2505071"/>
            <a:ext cx="3887791" cy="368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19" name="Google Shape;119;p57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7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7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8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8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8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8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9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9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9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0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0"/>
          <p:cNvSpPr txBox="1"/>
          <p:nvPr>
            <p:ph idx="1" type="body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6195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800"/>
            </a:lvl2pPr>
            <a:lvl3pPr indent="-297180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080"/>
              <a:buChar char="●"/>
              <a:defRPr sz="2400"/>
            </a:lvl3pPr>
            <a:lvl4pPr indent="-32385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500"/>
              <a:buChar char="–"/>
              <a:defRPr sz="2000"/>
            </a:lvl4pPr>
            <a:lvl5pPr indent="-285750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900"/>
              <a:buChar char="●"/>
              <a:defRPr sz="2000"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34" name="Google Shape;134;p60"/>
          <p:cNvSpPr txBox="1"/>
          <p:nvPr>
            <p:ph idx="2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35" name="Google Shape;135;p60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0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0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1"/>
          <p:cNvSpPr txBox="1"/>
          <p:nvPr>
            <p:ph type="title"/>
          </p:nvPr>
        </p:nvSpPr>
        <p:spPr>
          <a:xfrm>
            <a:off x="630241" y="457200"/>
            <a:ext cx="294957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1"/>
          <p:cNvSpPr/>
          <p:nvPr>
            <p:ph idx="2" type="pic"/>
          </p:nvPr>
        </p:nvSpPr>
        <p:spPr>
          <a:xfrm>
            <a:off x="3887791" y="987423"/>
            <a:ext cx="4629149" cy="4873623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61"/>
          <p:cNvSpPr txBox="1"/>
          <p:nvPr>
            <p:ph idx="1" type="body"/>
          </p:nvPr>
        </p:nvSpPr>
        <p:spPr>
          <a:xfrm>
            <a:off x="630241" y="2057400"/>
            <a:ext cx="2949570" cy="3811584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None/>
              <a:defRPr sz="1600"/>
            </a:lvl1pPr>
            <a:lvl2pPr indent="-314325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2pPr>
            <a:lvl3pPr indent="-280035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350"/>
              <a:buChar char="–"/>
              <a:defRPr/>
            </a:lvl4pPr>
            <a:lvl5pPr indent="-280035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42" name="Google Shape;142;p61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1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61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2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2"/>
          <p:cNvSpPr txBox="1"/>
          <p:nvPr>
            <p:ph idx="1" type="body"/>
          </p:nvPr>
        </p:nvSpPr>
        <p:spPr>
          <a:xfrm rot="5400000">
            <a:off x="2309043" y="-251643"/>
            <a:ext cx="4525557" cy="822924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48" name="Google Shape;148;p62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2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62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3"/>
          <p:cNvSpPr txBox="1"/>
          <p:nvPr>
            <p:ph type="title"/>
          </p:nvPr>
        </p:nvSpPr>
        <p:spPr>
          <a:xfrm rot="5400000">
            <a:off x="4732336" y="2171705"/>
            <a:ext cx="5851529" cy="2057400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3"/>
          <p:cNvSpPr txBox="1"/>
          <p:nvPr>
            <p:ph idx="1" type="body"/>
          </p:nvPr>
        </p:nvSpPr>
        <p:spPr>
          <a:xfrm rot="5400000">
            <a:off x="541333" y="190507"/>
            <a:ext cx="5851529" cy="601979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2pPr>
            <a:lvl3pPr indent="-320039" lvl="2" marL="1371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3pPr>
            <a:lvl4pPr indent="-381000" lvl="3" marL="18288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Char char="–"/>
              <a:defRPr/>
            </a:lvl4pPr>
            <a:lvl5pPr indent="-320039" lvl="4" marL="22860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7pPr>
            <a:lvl8pPr indent="-280034" lvl="7" marL="365760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810"/>
              <a:buChar char="●"/>
              <a:defRPr/>
            </a:lvl8pPr>
            <a:lvl9pPr indent="-280034" lvl="8" marL="411480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810"/>
              <a:buChar char="●"/>
              <a:defRPr/>
            </a:lvl9pPr>
          </a:lstStyle>
          <a:p/>
        </p:txBody>
      </p:sp>
      <p:sp>
        <p:nvSpPr>
          <p:cNvPr id="154" name="Google Shape;154;p63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63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63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3643" cy="68576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0"/>
          <p:cNvSpPr txBox="1"/>
          <p:nvPr>
            <p:ph type="title"/>
          </p:nvPr>
        </p:nvSpPr>
        <p:spPr>
          <a:xfrm>
            <a:off x="685800" y="2130478"/>
            <a:ext cx="7772043" cy="146952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40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0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0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457200" y="1604515"/>
            <a:ext cx="8229243" cy="4525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3643" cy="685764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2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42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39" lvl="4" marL="22860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39" lvl="6" marL="32004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0040" lvl="7" marL="3657600" marR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0040" lvl="8" marL="4114800" marR="0" rtl="0" algn="l">
              <a:lnSpc>
                <a:spcPct val="100000"/>
              </a:lnSpc>
              <a:spcBef>
                <a:spcPts val="1415"/>
              </a:spcBef>
              <a:spcAft>
                <a:spcPts val="1415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42"/>
          <p:cNvSpPr txBox="1"/>
          <p:nvPr>
            <p:ph idx="10" type="dt"/>
          </p:nvPr>
        </p:nvSpPr>
        <p:spPr>
          <a:xfrm>
            <a:off x="457200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42"/>
          <p:cNvSpPr txBox="1"/>
          <p:nvPr>
            <p:ph idx="11" type="ftr"/>
          </p:nvPr>
        </p:nvSpPr>
        <p:spPr>
          <a:xfrm>
            <a:off x="3124075" y="6356515"/>
            <a:ext cx="2895118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42"/>
          <p:cNvSpPr txBox="1"/>
          <p:nvPr>
            <p:ph idx="12" type="sldNum"/>
          </p:nvPr>
        </p:nvSpPr>
        <p:spPr>
          <a:xfrm>
            <a:off x="6553084" y="6356515"/>
            <a:ext cx="2133359" cy="36468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/>
          <p:nvPr>
            <p:ph type="ctrTitle"/>
          </p:nvPr>
        </p:nvSpPr>
        <p:spPr>
          <a:xfrm>
            <a:off x="1143000" y="2077001"/>
            <a:ext cx="6858000" cy="277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1" lang="en-US"/>
              <a:t>STATISTICS </a:t>
            </a:r>
            <a:br>
              <a:rPr b="1" lang="en-US"/>
            </a:br>
            <a:r>
              <a:rPr b="1" lang="en-US"/>
              <a:t>AND</a:t>
            </a:r>
            <a:br>
              <a:rPr b="1" lang="en-US"/>
            </a:br>
            <a:r>
              <a:rPr b="1" lang="en-US"/>
              <a:t>PROBABILITY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"/>
          <p:cNvSpPr txBox="1"/>
          <p:nvPr>
            <p:ph type="title"/>
          </p:nvPr>
        </p:nvSpPr>
        <p:spPr>
          <a:xfrm>
            <a:off x="457200" y="142614"/>
            <a:ext cx="8229243" cy="981512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en-US"/>
              <a:t>What is Statistics ?</a:t>
            </a:r>
            <a:endParaRPr b="1"/>
          </a:p>
        </p:txBody>
      </p:sp>
      <p:sp>
        <p:nvSpPr>
          <p:cNvPr id="167" name="Google Shape;167;p2"/>
          <p:cNvSpPr txBox="1"/>
          <p:nvPr>
            <p:ph idx="1" type="body"/>
          </p:nvPr>
        </p:nvSpPr>
        <p:spPr>
          <a:xfrm>
            <a:off x="92279" y="983226"/>
            <a:ext cx="8959441" cy="537562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Statistics is the science of Collecting, Organizing, Analyzing, Interpreting and Presenting data.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Types of Statistics: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b="1" lang="en-US"/>
              <a:t>Descriptive Statistics : </a:t>
            </a:r>
            <a:r>
              <a:rPr lang="en-US"/>
              <a:t>Measures of Central Tendency, Measures of Dispersion, Frequency Distributions, Data Visualization.</a:t>
            </a:r>
            <a:endParaRPr b="1"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b="1" lang="en-US"/>
              <a:t>Inferential Statistics : </a:t>
            </a:r>
            <a:r>
              <a:rPr lang="en-US"/>
              <a:t>Hypothesis Testing, Confidence Intervals, Regression Analysis, Correlation, Probability Distributions.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/>
          <p:nvPr>
            <p:ph type="title"/>
          </p:nvPr>
        </p:nvSpPr>
        <p:spPr>
          <a:xfrm>
            <a:off x="457200" y="108156"/>
            <a:ext cx="8229243" cy="796412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en-US"/>
              <a:t>Descriptive Statistics</a:t>
            </a:r>
            <a:endParaRPr b="1"/>
          </a:p>
        </p:txBody>
      </p:sp>
      <p:sp>
        <p:nvSpPr>
          <p:cNvPr id="173" name="Google Shape;173;p3"/>
          <p:cNvSpPr txBox="1"/>
          <p:nvPr>
            <p:ph idx="1" type="body"/>
          </p:nvPr>
        </p:nvSpPr>
        <p:spPr>
          <a:xfrm>
            <a:off x="127820" y="1091380"/>
            <a:ext cx="9016180" cy="503437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8001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To summarize and describe the main features of a dataset.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It helps you understand “what happened” in your data.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b="1" lang="en-US" sz="2800"/>
              <a:t>Methods</a:t>
            </a:r>
            <a:r>
              <a:rPr lang="en-US" sz="2800"/>
              <a:t>: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Measures of Central Tendency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Measures of Dispersion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Frequency Distributions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Data Visualization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/>
          <p:nvPr>
            <p:ph type="title"/>
          </p:nvPr>
        </p:nvSpPr>
        <p:spPr>
          <a:xfrm>
            <a:off x="457200" y="117446"/>
            <a:ext cx="8229243" cy="947957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en-US"/>
              <a:t>Measures of Central Tendency</a:t>
            </a:r>
            <a:br>
              <a:rPr lang="en-US"/>
            </a:br>
            <a:endParaRPr/>
          </a:p>
        </p:txBody>
      </p:sp>
      <p:sp>
        <p:nvSpPr>
          <p:cNvPr id="179" name="Google Shape;179;p4"/>
          <p:cNvSpPr txBox="1"/>
          <p:nvPr>
            <p:ph idx="1" type="body"/>
          </p:nvPr>
        </p:nvSpPr>
        <p:spPr>
          <a:xfrm>
            <a:off x="209725" y="1661652"/>
            <a:ext cx="8791661" cy="45881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8" r="0" t="-1861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idx="1" type="body"/>
          </p:nvPr>
        </p:nvSpPr>
        <p:spPr>
          <a:xfrm>
            <a:off x="109058" y="884904"/>
            <a:ext cx="8967830" cy="524085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92" l="-950" r="0" t="-1511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type="title"/>
          </p:nvPr>
        </p:nvSpPr>
        <p:spPr>
          <a:xfrm>
            <a:off x="457200" y="125835"/>
            <a:ext cx="8229243" cy="83889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90" name="Google Shape;190;p6"/>
          <p:cNvSpPr txBox="1"/>
          <p:nvPr>
            <p:ph idx="1" type="body"/>
          </p:nvPr>
        </p:nvSpPr>
        <p:spPr>
          <a:xfrm>
            <a:off x="83890" y="1098958"/>
            <a:ext cx="8867163" cy="5026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7" r="0" t="-1575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457200" y="137652"/>
            <a:ext cx="8229243" cy="727587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MODE</a:t>
            </a:r>
            <a:endParaRPr/>
          </a:p>
        </p:txBody>
      </p:sp>
      <p:sp>
        <p:nvSpPr>
          <p:cNvPr id="196" name="Google Shape;196;p7"/>
          <p:cNvSpPr txBox="1"/>
          <p:nvPr>
            <p:ph idx="1" type="body"/>
          </p:nvPr>
        </p:nvSpPr>
        <p:spPr>
          <a:xfrm>
            <a:off x="147484" y="1081548"/>
            <a:ext cx="8849032" cy="504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The most frequently occurring value in the dataset.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Mode = Term with highest frequency.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Example : [1,2,2,3,4] mode is 2.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type="title"/>
          </p:nvPr>
        </p:nvSpPr>
        <p:spPr>
          <a:xfrm>
            <a:off x="186814" y="127820"/>
            <a:ext cx="8499630" cy="865238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1" lang="en-US" sz="3600"/>
              <a:t>Measures of Dispersion/Spread/Variation</a:t>
            </a:r>
            <a:endParaRPr b="1" sz="3600"/>
          </a:p>
        </p:txBody>
      </p:sp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186813" y="993058"/>
            <a:ext cx="8849031" cy="51326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05" l="-1790" r="0" t="-1542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/>
          <p:nvPr>
            <p:ph type="title"/>
          </p:nvPr>
        </p:nvSpPr>
        <p:spPr>
          <a:xfrm>
            <a:off x="457200" y="108155"/>
            <a:ext cx="8229243" cy="875072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VARIANCE</a:t>
            </a:r>
            <a:endParaRPr/>
          </a:p>
        </p:txBody>
      </p:sp>
      <p:sp>
        <p:nvSpPr>
          <p:cNvPr id="208" name="Google Shape;208;p9"/>
          <p:cNvSpPr txBox="1"/>
          <p:nvPr>
            <p:ph idx="1" type="body"/>
          </p:nvPr>
        </p:nvSpPr>
        <p:spPr>
          <a:xfrm>
            <a:off x="216310" y="1130710"/>
            <a:ext cx="8731045" cy="52110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43" r="0" t="-1519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457200" y="1140542"/>
            <a:ext cx="8229243" cy="498521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b="1" lang="en-US"/>
              <a:t>Step 2: Calculate the deviations from the mean for each temperature.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20−21=−1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22−21=1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19−21=−2</a:t>
            </a:r>
            <a:endParaRPr sz="2800"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21−21=0</a:t>
            </a:r>
            <a:endParaRPr/>
          </a:p>
          <a:p>
            <a:pPr indent="-8001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Char char="●"/>
            </a:pPr>
            <a:r>
              <a:rPr lang="en-US" sz="2800"/>
              <a:t>23−21=2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idx="1" type="body"/>
          </p:nvPr>
        </p:nvSpPr>
        <p:spPr>
          <a:xfrm>
            <a:off x="255640" y="1209368"/>
            <a:ext cx="8593392" cy="49163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66" r="0" t="-1610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457200" y="1139825"/>
            <a:ext cx="8229600" cy="4986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91" r="0" t="-1587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 txBox="1"/>
          <p:nvPr>
            <p:ph type="title"/>
          </p:nvPr>
        </p:nvSpPr>
        <p:spPr>
          <a:xfrm>
            <a:off x="457200" y="108156"/>
            <a:ext cx="8229243" cy="796412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STANDARD DEVIATION</a:t>
            </a:r>
            <a:endParaRPr/>
          </a:p>
        </p:txBody>
      </p:sp>
      <p:sp>
        <p:nvSpPr>
          <p:cNvPr id="229" name="Google Shape;229;p13"/>
          <p:cNvSpPr txBox="1"/>
          <p:nvPr>
            <p:ph idx="1" type="body"/>
          </p:nvPr>
        </p:nvSpPr>
        <p:spPr>
          <a:xfrm>
            <a:off x="108155" y="1784293"/>
            <a:ext cx="8578288" cy="49655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68" r="0" t="-1596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 flipH="1">
            <a:off x="2890682" y="2576052"/>
            <a:ext cx="3569111" cy="8183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74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type="title"/>
          </p:nvPr>
        </p:nvSpPr>
        <p:spPr>
          <a:xfrm>
            <a:off x="457200" y="167148"/>
            <a:ext cx="8229243" cy="1250171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INTERQUARTILE RANGE(IQR)</a:t>
            </a:r>
            <a:endParaRPr/>
          </a:p>
        </p:txBody>
      </p:sp>
      <p:sp>
        <p:nvSpPr>
          <p:cNvPr id="236" name="Google Shape;236;p14"/>
          <p:cNvSpPr txBox="1"/>
          <p:nvPr>
            <p:ph idx="1" type="body"/>
          </p:nvPr>
        </p:nvSpPr>
        <p:spPr>
          <a:xfrm>
            <a:off x="275304" y="1417318"/>
            <a:ext cx="8642554" cy="470843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The range between first  quartile (Q1) and the third quartile (Q3)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b="1" lang="en-US"/>
              <a:t>IQR= Q3-Q1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type="title"/>
          </p:nvPr>
        </p:nvSpPr>
        <p:spPr>
          <a:xfrm>
            <a:off x="457200" y="117988"/>
            <a:ext cx="8229243" cy="84557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en-US" sz="3200"/>
              <a:t>Calculate the IQR  for an odd no. of observations</a:t>
            </a:r>
            <a:endParaRPr sz="3200"/>
          </a:p>
        </p:txBody>
      </p:sp>
      <p:sp>
        <p:nvSpPr>
          <p:cNvPr id="242" name="Google Shape;242;p15"/>
          <p:cNvSpPr txBox="1"/>
          <p:nvPr>
            <p:ph idx="1" type="body"/>
          </p:nvPr>
        </p:nvSpPr>
        <p:spPr>
          <a:xfrm>
            <a:off x="137652" y="963562"/>
            <a:ext cx="8858864" cy="5162196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Arrange the data : Sort the dataset in ascending order.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Find the median(Q2) : This will divide the data in 2 halves.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Find Q1(First Quartile) : This is the median of the lower half of the data (excluding median)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Find Q3(Third Quartile): Upper half of the data</a:t>
            </a:r>
            <a:br>
              <a:rPr lang="en-US"/>
            </a:br>
            <a:r>
              <a:rPr lang="en-US"/>
              <a:t>(excluding median)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Calculate IQR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>
            <p:ph type="title"/>
          </p:nvPr>
        </p:nvSpPr>
        <p:spPr>
          <a:xfrm>
            <a:off x="457200" y="108156"/>
            <a:ext cx="8229243" cy="875070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48" name="Google Shape;248;p16"/>
          <p:cNvSpPr txBox="1"/>
          <p:nvPr>
            <p:ph idx="1" type="body"/>
          </p:nvPr>
        </p:nvSpPr>
        <p:spPr>
          <a:xfrm>
            <a:off x="457200" y="1258530"/>
            <a:ext cx="8229243" cy="48672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91" r="0" t="-1624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idx="1" type="body"/>
          </p:nvPr>
        </p:nvSpPr>
        <p:spPr>
          <a:xfrm>
            <a:off x="147484" y="884904"/>
            <a:ext cx="8858864" cy="50734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326" l="-137" r="0" t="-1561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5004620" y="1671484"/>
            <a:ext cx="2104104" cy="53572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 txBox="1"/>
          <p:nvPr>
            <p:ph type="title"/>
          </p:nvPr>
        </p:nvSpPr>
        <p:spPr>
          <a:xfrm>
            <a:off x="0" y="108156"/>
            <a:ext cx="9075174" cy="75708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/>
              <a:t>Calculate the IQR  for an even no. of observations</a:t>
            </a:r>
            <a:endParaRPr sz="2800"/>
          </a:p>
        </p:txBody>
      </p:sp>
      <p:sp>
        <p:nvSpPr>
          <p:cNvPr id="260" name="Google Shape;260;p18"/>
          <p:cNvSpPr txBox="1"/>
          <p:nvPr>
            <p:ph idx="1" type="body"/>
          </p:nvPr>
        </p:nvSpPr>
        <p:spPr>
          <a:xfrm>
            <a:off x="117987" y="1111046"/>
            <a:ext cx="9026013" cy="50048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4" r="0" t="-1582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 txBox="1"/>
          <p:nvPr>
            <p:ph idx="1" type="body"/>
          </p:nvPr>
        </p:nvSpPr>
        <p:spPr>
          <a:xfrm>
            <a:off x="196646" y="1071716"/>
            <a:ext cx="8780206" cy="49161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8" r="0" t="-1611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/>
          <p:nvPr>
            <p:ph type="ctrTitle"/>
          </p:nvPr>
        </p:nvSpPr>
        <p:spPr>
          <a:xfrm>
            <a:off x="471947" y="816077"/>
            <a:ext cx="8013291" cy="3490452"/>
          </a:xfrm>
          <a:prstGeom prst="rect">
            <a:avLst/>
          </a:prstGeom>
          <a:noFill/>
          <a:ln>
            <a:noFill/>
          </a:ln>
        </p:spPr>
        <p:txBody>
          <a:bodyPr anchorCtr="1" anchor="b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lang="en-US"/>
              <a:t>Quartiles , Percentage and Percentiles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type="title"/>
          </p:nvPr>
        </p:nvSpPr>
        <p:spPr>
          <a:xfrm>
            <a:off x="265473" y="117986"/>
            <a:ext cx="8361978" cy="77674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QUARTILES</a:t>
            </a:r>
            <a:endParaRPr/>
          </a:p>
        </p:txBody>
      </p:sp>
      <p:sp>
        <p:nvSpPr>
          <p:cNvPr id="276" name="Google Shape;276;p21"/>
          <p:cNvSpPr txBox="1"/>
          <p:nvPr>
            <p:ph idx="1" type="body"/>
          </p:nvPr>
        </p:nvSpPr>
        <p:spPr>
          <a:xfrm>
            <a:off x="167148" y="1199535"/>
            <a:ext cx="8750710" cy="5540479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Values that divide a dataset into 3 equal parts.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Q1 : Lower Quartile (Represent 25</a:t>
            </a:r>
            <a:r>
              <a:rPr baseline="30000" lang="en-US"/>
              <a:t>th</a:t>
            </a:r>
            <a:r>
              <a:rPr lang="en-US"/>
              <a:t> percentile)</a:t>
            </a:r>
            <a:br>
              <a:rPr lang="en-US"/>
            </a:br>
            <a:r>
              <a:rPr lang="en-US"/>
              <a:t>         (Median of the lower half of the dataset)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Q2 : Median(50%)</a:t>
            </a:r>
            <a:br>
              <a:rPr lang="en-US"/>
            </a:br>
            <a:r>
              <a:rPr lang="en-US"/>
              <a:t>          (Dividing it into two equal half)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Q3 : Upper Quartile ( 75</a:t>
            </a:r>
            <a:r>
              <a:rPr baseline="30000" lang="en-US"/>
              <a:t>th</a:t>
            </a:r>
            <a:r>
              <a:rPr lang="en-US"/>
              <a:t> percentile)</a:t>
            </a:r>
            <a:br>
              <a:rPr lang="en-US"/>
            </a:br>
            <a:r>
              <a:rPr lang="en-US"/>
              <a:t>          (Median of the upper half of the dataset)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457200" y="147484"/>
            <a:ext cx="8229243" cy="875071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Lower Fence and Upper Fence</a:t>
            </a:r>
            <a:endParaRPr/>
          </a:p>
        </p:txBody>
      </p:sp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167148" y="1632154"/>
            <a:ext cx="8819536" cy="4493603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These are boundaries used in statistics to identify outliers in a dataset . They are calculated using IQR and quartiles (Q1 and Q3)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Outliers : Datapoints that fall outside the boundaries defined by IQR .Specifically outside the upper and lower fence.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idx="1" type="body"/>
          </p:nvPr>
        </p:nvSpPr>
        <p:spPr>
          <a:xfrm>
            <a:off x="147484" y="1022555"/>
            <a:ext cx="8858864" cy="5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b="1" lang="en-US" u="sng"/>
              <a:t>LOWER FENCE: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Lower boundary below which data points are considered as outliers.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Lower Fence = Q1-1.5*IQR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b="1" lang="en-US" u="sng"/>
              <a:t>UPPER FENCE: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Upper boundary above which datapoints are considered as outliers.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Upper Fence = Q3+1.5*IQR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/>
          <p:nvPr>
            <p:ph type="title"/>
          </p:nvPr>
        </p:nvSpPr>
        <p:spPr>
          <a:xfrm>
            <a:off x="457200" y="88490"/>
            <a:ext cx="8229243" cy="865239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93" name="Google Shape;293;p24"/>
          <p:cNvSpPr txBox="1"/>
          <p:nvPr>
            <p:ph idx="1" type="body"/>
          </p:nvPr>
        </p:nvSpPr>
        <p:spPr>
          <a:xfrm>
            <a:off x="147484" y="1189702"/>
            <a:ext cx="8849032" cy="557980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Dataset :[1,2,3,4,5,6,8,9]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1)Calculate Quartiles(Q1,Q3)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Arrange data in ascending order : [1,2,3,4,5,6,8,9]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Q1=(1,2,3,4)=2.5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Q3=(5,6,8,9)=7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2)Calculate IQR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IQR = 7-2.5=4.5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idx="1" type="body"/>
          </p:nvPr>
        </p:nvSpPr>
        <p:spPr>
          <a:xfrm>
            <a:off x="196646" y="1012724"/>
            <a:ext cx="8711380" cy="511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3) Calculate Lower fence and Upper fence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LF=Q1-1.5*IQR = 2.5-1.5*4.5</a:t>
            </a:r>
            <a:br>
              <a:rPr lang="en-US"/>
            </a:br>
            <a:r>
              <a:rPr lang="en-US"/>
              <a:t>                            = 2.5-6.75</a:t>
            </a:r>
            <a:br>
              <a:rPr lang="en-US"/>
            </a:br>
            <a:r>
              <a:rPr lang="en-US"/>
              <a:t>                            = -4.25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rPr lang="en-US"/>
              <a:t>Any data point below -4.25 is considered as potential outlier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6"/>
          <p:cNvSpPr txBox="1"/>
          <p:nvPr>
            <p:ph idx="1" type="body"/>
          </p:nvPr>
        </p:nvSpPr>
        <p:spPr>
          <a:xfrm>
            <a:off x="-78658" y="1425677"/>
            <a:ext cx="9222658" cy="470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lang="en-US" sz="2800"/>
              <a:t>UF=Q3+1.5*IQR = 7+1.5*4.5</a:t>
            </a:r>
            <a:br>
              <a:rPr lang="en-US" sz="2800"/>
            </a:br>
            <a:r>
              <a:rPr lang="en-US" sz="2800"/>
              <a:t>                            = 7+6.75</a:t>
            </a:r>
            <a:br>
              <a:rPr lang="en-US" sz="2800"/>
            </a:br>
            <a:r>
              <a:rPr lang="en-US" sz="2800"/>
              <a:t>                            = 13.75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lang="en-US" sz="2800"/>
              <a:t>Any data point above 13.75 is considered as a potential outlier.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lang="en-US" sz="2800"/>
              <a:t>Data points outside the boundaries(below - 4.25/above  13.75) are potential outliers.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/>
          <p:nvPr>
            <p:ph type="title"/>
          </p:nvPr>
        </p:nvSpPr>
        <p:spPr>
          <a:xfrm>
            <a:off x="457200" y="176982"/>
            <a:ext cx="8229243" cy="766915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PERCENTAGE</a:t>
            </a:r>
            <a:endParaRPr/>
          </a:p>
        </p:txBody>
      </p:sp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65471" y="1140542"/>
            <a:ext cx="8622889" cy="498521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Used to express a part of a whole as a fraction of 100. Used to compare relative sizes , proportions and changes commonly used in statistics, finance and everyday calculations.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Percentage =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1533832" y="3303638"/>
            <a:ext cx="3923071" cy="6223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/>
          <p:nvPr>
            <p:ph type="title"/>
          </p:nvPr>
        </p:nvSpPr>
        <p:spPr>
          <a:xfrm>
            <a:off x="457200" y="98323"/>
            <a:ext cx="8229243" cy="786580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16" name="Google Shape;316;p28"/>
          <p:cNvSpPr txBox="1"/>
          <p:nvPr>
            <p:ph idx="1" type="body"/>
          </p:nvPr>
        </p:nvSpPr>
        <p:spPr>
          <a:xfrm>
            <a:off x="457200" y="1209368"/>
            <a:ext cx="8229243" cy="491638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25" r="0" t="-1610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>
            <p:ph idx="1" type="body"/>
          </p:nvPr>
        </p:nvSpPr>
        <p:spPr>
          <a:xfrm>
            <a:off x="457200" y="1091382"/>
            <a:ext cx="8229243" cy="503437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25" r="0" t="-1573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>
            <p:ph idx="1" type="body"/>
          </p:nvPr>
        </p:nvSpPr>
        <p:spPr>
          <a:xfrm>
            <a:off x="457200" y="1081548"/>
            <a:ext cx="8229243" cy="5044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25" r="0" t="-1569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idx="1" type="body"/>
          </p:nvPr>
        </p:nvSpPr>
        <p:spPr>
          <a:xfrm>
            <a:off x="280219" y="970936"/>
            <a:ext cx="8229243" cy="45255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7" r="0" t="-1749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/>
          <p:nvPr>
            <p:ph idx="1" type="body"/>
          </p:nvPr>
        </p:nvSpPr>
        <p:spPr>
          <a:xfrm>
            <a:off x="235974" y="953730"/>
            <a:ext cx="8721213" cy="51720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17" r="0" t="-1529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idx="1" type="body"/>
          </p:nvPr>
        </p:nvSpPr>
        <p:spPr>
          <a:xfrm>
            <a:off x="457200" y="963562"/>
            <a:ext cx="8229243" cy="51621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25" r="0" t="-1534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457200" y="137652"/>
            <a:ext cx="8229243" cy="88490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PERCENTILES</a:t>
            </a:r>
            <a:endParaRPr/>
          </a:p>
        </p:txBody>
      </p:sp>
      <p:sp>
        <p:nvSpPr>
          <p:cNvPr id="347" name="Google Shape;347;p34"/>
          <p:cNvSpPr txBox="1"/>
          <p:nvPr>
            <p:ph idx="1" type="body"/>
          </p:nvPr>
        </p:nvSpPr>
        <p:spPr>
          <a:xfrm>
            <a:off x="457200" y="1219200"/>
            <a:ext cx="8229243" cy="49065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24" r="-666" t="-1614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idx="1" type="body"/>
          </p:nvPr>
        </p:nvSpPr>
        <p:spPr>
          <a:xfrm>
            <a:off x="457200" y="1052052"/>
            <a:ext cx="8229243" cy="50737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924" r="-1109" t="-1681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>
            <p:ph type="title"/>
          </p:nvPr>
        </p:nvSpPr>
        <p:spPr>
          <a:xfrm>
            <a:off x="457200" y="157317"/>
            <a:ext cx="8229243" cy="757084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457200" y="1022554"/>
            <a:ext cx="8229243" cy="510320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092" l="-814" r="0" t="-716"/>
            </a:stretch>
          </a:blipFill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/>
          <p:nvPr>
            <p:ph type="title"/>
          </p:nvPr>
        </p:nvSpPr>
        <p:spPr>
          <a:xfrm>
            <a:off x="457200" y="156690"/>
            <a:ext cx="8229243" cy="649556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/>
              <a:t>INFERENTIAL STATISTICS</a:t>
            </a:r>
            <a:endParaRPr/>
          </a:p>
        </p:txBody>
      </p:sp>
      <p:sp>
        <p:nvSpPr>
          <p:cNvPr id="364" name="Google Shape;364;p37"/>
          <p:cNvSpPr txBox="1"/>
          <p:nvPr>
            <p:ph idx="1" type="body"/>
          </p:nvPr>
        </p:nvSpPr>
        <p:spPr>
          <a:xfrm>
            <a:off x="457200" y="1582994"/>
            <a:ext cx="8229243" cy="5378245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-9144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Inferential statistics is used to make predictions about a population based on a sample of data.</a:t>
            </a:r>
            <a:endParaRPr/>
          </a:p>
          <a:p>
            <a:pPr indent="-91440" lvl="0" marL="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Char char="●"/>
            </a:pPr>
            <a:r>
              <a:rPr lang="en-US"/>
              <a:t>There are 2 types of inferential statistics: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Hypothesis Testing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Regression Analysis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❑"/>
            </a:pPr>
            <a:r>
              <a:rPr lang="en-US"/>
              <a:t>Confidence Intervals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0" name="Google Shape;370;p38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/>
          <p:nvPr>
            <p:ph type="title"/>
          </p:nvPr>
        </p:nvSpPr>
        <p:spPr>
          <a:xfrm>
            <a:off x="457200" y="274676"/>
            <a:ext cx="8229243" cy="1142643"/>
          </a:xfrm>
          <a:prstGeom prst="rect">
            <a:avLst/>
          </a:prstGeom>
          <a:noFill/>
          <a:ln>
            <a:noFill/>
          </a:ln>
        </p:spPr>
        <p:txBody>
          <a:bodyPr anchorCtr="1" anchor="t" bIns="44975" lIns="90000" spcFirstLastPara="1" rIns="90000" wrap="square" tIns="44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6" name="Google Shape;376;p39"/>
          <p:cNvSpPr txBox="1"/>
          <p:nvPr>
            <p:ph idx="1" type="body"/>
          </p:nvPr>
        </p:nvSpPr>
        <p:spPr>
          <a:xfrm>
            <a:off x="457200" y="1600200"/>
            <a:ext cx="8229243" cy="452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4975" lIns="90000" spcFirstLastPara="1" rIns="90000" wrap="square" tIns="44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2025-05-22T06:23:24Z</dcterms:created>
  <dc:creator>Sneha Joshy</dc:creator>
</cp:coreProperties>
</file>